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58A6FF">
              <a:alpha val="8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BC8CFF">
              <a:alpha val="8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822960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3FB950">
              <a:alpha val="18000"/>
            </a:srgbClr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822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 DEEP-DIVE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457200" y="1920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 Deep-Dive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 Hub-and-Spoke  ·  HCL Patterns  ·  Module Architecture  ·  State Management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310128"/>
            <a:ext cx="1508760" cy="6217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3375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" y="36210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121408" y="3310128"/>
            <a:ext cx="1508760" cy="6217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21408" y="33375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121408" y="36210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785616" y="3310128"/>
            <a:ext cx="1508760" cy="6217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85616" y="33375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785616" y="36210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.tf files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49824" y="3310128"/>
            <a:ext cx="1508760" cy="6217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9824" y="33375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≥1.5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49824" y="36210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 version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114032" y="3310128"/>
            <a:ext cx="1508760" cy="6217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14032" y="33375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~4.0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114032" y="36210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4681728"/>
            <a:ext cx="9144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681728"/>
            <a:ext cx="82296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init  &amp;&amp;  terraform plan  &amp;&amp;  terraform apply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Directory Layout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7132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the repo is organised and what each file does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4572000" cy="384048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24128"/>
            <a:ext cx="457200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24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5F57"/>
                </a:solidFill>
              </a:rPr>
              <a:t>● ● 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024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az-hub-spoke — Explorer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35331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az-hub-spoke/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411480" y="155448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bootstrap/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411480" y="175564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main.tf          # storage account + container + role assignment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411480" y="1956816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variables.tf     # prefix, location, environment, subscription_id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11480" y="2157984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outputs.tf       # backend_config_snippet (ready-to-paste block)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11480" y="235915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environments/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411480" y="256032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dev/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411480" y="276148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backend.tf   # local (default) or azurerm backend block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411480" y="2962656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main.tf      # all module {} calls — wires everything together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411480" y="3163824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variables.tf # subscription_id, location (inputs to main.tf)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11480" y="336499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modules/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411480" y="356616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hub_network/     # hub VNet + 4 subnets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411480" y="376732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firewall/        # Azure Firewall + Policy + Rule Collection Group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411480" y="3968496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bastion/         # Azure Bastion + Public IP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411480" y="4169664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spoke_network/   # generic spoke: VNet + subnets + UDR (for_each)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411480" y="437083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peering/         # bidirectional azurerm_virtual_network_peering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411480" y="457200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private_dns/     # DNS zones + links (flatten + for_each pattern)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5166360" y="1024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Architecture Rules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166360" y="1389888"/>
            <a:ext cx="3657600" cy="58521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66360" y="1389888"/>
            <a:ext cx="45720" cy="58521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0" name="Text 28"/>
          <p:cNvSpPr/>
          <p:nvPr/>
        </p:nvSpPr>
        <p:spPr>
          <a:xfrm>
            <a:off x="5285232" y="1408176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environment, many modules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85232" y="1609344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environments/dev/main.tf is the only file that wires modules together. Adding prod means copying the folder — zero module changes.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166360" y="2066544"/>
            <a:ext cx="3657600" cy="58521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66360" y="2066544"/>
            <a:ext cx="45720" cy="58521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4" name="Text 32"/>
          <p:cNvSpPr/>
          <p:nvPr/>
        </p:nvSpPr>
        <p:spPr>
          <a:xfrm>
            <a:off x="5285232" y="2084832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hard-coded values in modules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285232" y="2286000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Every module is driven 100% by variables. No region, prefix or CIDR is baked in. All defaults are set in variables.tf.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166360" y="2743200"/>
            <a:ext cx="3657600" cy="58521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66360" y="2743200"/>
            <a:ext cx="45720" cy="585216"/>
          </a:xfrm>
          <a:prstGeom prst="rect">
            <a:avLst/>
          </a:prstGeom>
          <a:solidFill>
            <a:srgbClr val="39C5CF"/>
          </a:solidFill>
          <a:ln/>
        </p:spPr>
      </p:sp>
      <p:sp>
        <p:nvSpPr>
          <p:cNvPr id="38" name="Text 36"/>
          <p:cNvSpPr/>
          <p:nvPr/>
        </p:nvSpPr>
        <p:spPr>
          <a:xfrm>
            <a:off x="5285232" y="276148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chain modules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285232" y="2962656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hub_network.firewall_subnet_id → firewall module. firewall.firewall_private_ip → every spoke's UDR next-hop. No repeated lookups.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166360" y="3419856"/>
            <a:ext cx="3657600" cy="58521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66360" y="3419856"/>
            <a:ext cx="45720" cy="58521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2" name="Text 40"/>
          <p:cNvSpPr/>
          <p:nvPr/>
        </p:nvSpPr>
        <p:spPr>
          <a:xfrm>
            <a:off x="5285232" y="3438144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Consistent naming convention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285232" y="3639312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All resource names follow Azure CAF: {type}-{prefix}-{context}-{env}-{region_short}. Region short codes are resolved via a local{} map.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166360" y="4096512"/>
            <a:ext cx="3657600" cy="58521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66360" y="4096512"/>
            <a:ext cx="45720" cy="585216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46" name="Text 44"/>
          <p:cNvSpPr/>
          <p:nvPr/>
        </p:nvSpPr>
        <p:spPr>
          <a:xfrm>
            <a:off x="5285232" y="4114800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 on every resource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285232" y="4315968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A tags = var.tags input exists on every module. The env main.tf computes a single local.tags map and passes it everywhere.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&amp; Backend Configuration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7132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environments/dev/backend.tf  +  terraform {} blocks in each module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backend.tf — local → azurerm migration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206240" cy="2029968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256032" cy="20299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1344168"/>
            <a:ext cx="387705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DEFAULT — local backend for terraform validate/plan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 "local" {}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AFTER BOOTSTRAP — uncomment &amp; re-run terraform init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backend "azurerm"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resource_group_name  = "rg-hubspoke-tfstate-dev-weu"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storage_account_name = "sthubspoketfst&lt;random_hex&gt;"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container_name       = "tfstate"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key                  = "dev.terraform.tfstate"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use_azuread_auth     = true   # workload identity / MSI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}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320040" y="3401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required_providers block (every module)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3685032"/>
            <a:ext cx="4206240" cy="137160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685032"/>
            <a:ext cx="256032" cy="1371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" y="3730752"/>
            <a:ext cx="387705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required_providers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azurerm =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source  = "hashicorp/azurerm"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version = "~&gt; 4.0"    # pessimistic ~&gt; allows 4.x only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 =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source  = "hashicorp/random"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version = "~&gt; 3.0"    # used in bootstrap for suffix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required_version = "&gt;= 1.5.0"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"azurerm"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subscription_id = var.subscription_id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features {}    # required — empty enables all defaults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4773168" y="1005840"/>
            <a:ext cx="4041648" cy="93268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73168" y="1005840"/>
            <a:ext cx="45720" cy="932688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6" name="Text 14"/>
          <p:cNvSpPr/>
          <p:nvPr/>
        </p:nvSpPr>
        <p:spPr>
          <a:xfrm>
            <a:off x="4910328" y="10607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~&gt; version constraint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10328" y="1280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~&gt; 4.0 means "&gt;=4.0, &lt;5.0". Any 4.x patch/minor is accepted; a v5 breaking change is blocked. This is the safest operator for provider pins.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10328" y="1627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~&gt; 4.0  ≡  &gt;= 4.0.0, &lt; 5.0.0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773168" y="2029968"/>
            <a:ext cx="4041648" cy="93268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2029968"/>
            <a:ext cx="45720" cy="93268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1" name="Text 19"/>
          <p:cNvSpPr/>
          <p:nvPr/>
        </p:nvSpPr>
        <p:spPr>
          <a:xfrm>
            <a:off x="4910328" y="20848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use_azuread_auth = true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10328" y="2304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Uses Azure AD (Entra) identity — MSI, workload identity or az login — instead of SAS keys for state storage. No static secrets in CI.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10328" y="2651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login  # or AZURE_CLIENT_ID env var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73168" y="3054096"/>
            <a:ext cx="4041648" cy="93268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3054096"/>
            <a:ext cx="45720" cy="9326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6" name="Text 24"/>
          <p:cNvSpPr/>
          <p:nvPr/>
        </p:nvSpPr>
        <p:spPr>
          <a:xfrm>
            <a:off x="4910328" y="31089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 "dev.terraform.tfstate"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10328" y="33284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Each environment writes to its own blob key inside the shared container. prod would use prod.terraform.tfstate. Lock files prevent concurrent apply.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10328" y="3675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tfstate container/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dev.terraform.tfstate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prod.terraform.tfstate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773168" y="4078224"/>
            <a:ext cx="4041648" cy="93268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73168" y="4078224"/>
            <a:ext cx="45720" cy="93268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1" name="Text 29"/>
          <p:cNvSpPr/>
          <p:nvPr/>
        </p:nvSpPr>
        <p:spPr>
          <a:xfrm>
            <a:off x="4910328" y="41330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required_version &gt;= 1.5.0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10328" y="43525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Locks the Terraform CLI version. v1.5 introduced check{} blocks and significant HCL improvements used by this codebase. Fails fast on older CLIs.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10328" y="47000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version  # must show &gt;= 1.5.0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Wiring — environments/dev/main.tf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7132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module outputs become the next module's inputs (dependency graph)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call pattern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4663440" cy="365760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80160"/>
            <a:ext cx="256032" cy="3657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1325880"/>
            <a:ext cx="433425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prefix         = "hubspoke"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environment    = "dev"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      = var.location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location_short = {           # map lookup — no if/else needed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"westeurope"  = "weu"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"eastus"      = "eus"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"uksouth"     = "uks"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}[var.location]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 Project = "az-hub-spoke", ManagedBy = "terraform"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"hub_network"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        = "../../modules/hub_network"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prefix         = local.prefix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      = local.location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outputs used by downstream modules ↓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"firewall"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             = "../../modules/firewall"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resource_group_name = module.hub_network.resource_group_name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firewall_subnet_id  = module.hub_network.firewall_subnet_id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↑ chained from hub_network outputs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"app_spoke"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             = "../../modules/spoke_network"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spoke_name          = "app"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vnet_cidr           = "10.1.0.0/16"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firewall_private_ip = module.firewall.firewall_private_ip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↑ UDR next-hop comes from firewall output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subnets =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"snet-web" = { cidr = "10.1.1.0/24", apply_udr = true 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"snet-pep" = { cidr = "10.1.10.0/24", apply_udr = false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5212080" y="100584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Dependency graph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68112" y="1353312"/>
            <a:ext cx="329184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68112" y="1353312"/>
            <a:ext cx="329184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5541264" y="1444752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hub_network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541264" y="1700784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outputs: rg_name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fw_subnet_id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bas_subnet_id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vnet_id/name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468112" y="2487168"/>
            <a:ext cx="1536192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68112" y="2487168"/>
            <a:ext cx="1536192" cy="5486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7" name="Text 15"/>
          <p:cNvSpPr/>
          <p:nvPr/>
        </p:nvSpPr>
        <p:spPr>
          <a:xfrm>
            <a:off x="5541264" y="257860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firewall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541264" y="28346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fw_subnet_id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fw_private_ip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223760" y="2487168"/>
            <a:ext cx="1536192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2487168"/>
            <a:ext cx="1536192" cy="54864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1" name="Text 19"/>
          <p:cNvSpPr/>
          <p:nvPr/>
        </p:nvSpPr>
        <p:spPr>
          <a:xfrm>
            <a:off x="7296912" y="257860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296912" y="28346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bas_subnet_id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468112" y="3493008"/>
            <a:ext cx="1536192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9C5C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68112" y="3493008"/>
            <a:ext cx="1536192" cy="54864"/>
          </a:xfrm>
          <a:prstGeom prst="rect">
            <a:avLst/>
          </a:prstGeom>
          <a:solidFill>
            <a:srgbClr val="39C5CF"/>
          </a:solidFill>
          <a:ln/>
        </p:spPr>
      </p:sp>
      <p:sp>
        <p:nvSpPr>
          <p:cNvPr id="25" name="Text 23"/>
          <p:cNvSpPr/>
          <p:nvPr/>
        </p:nvSpPr>
        <p:spPr>
          <a:xfrm>
            <a:off x="5541264" y="358444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app_spoke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541264" y="384048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fw_private_ip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vnet_id/name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223760" y="3493008"/>
            <a:ext cx="1536192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9C5C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3493008"/>
            <a:ext cx="1536192" cy="54864"/>
          </a:xfrm>
          <a:prstGeom prst="rect">
            <a:avLst/>
          </a:prstGeom>
          <a:solidFill>
            <a:srgbClr val="39C5CF"/>
          </a:solidFill>
          <a:ln/>
        </p:spPr>
      </p:sp>
      <p:sp>
        <p:nvSpPr>
          <p:cNvPr id="29" name="Text 27"/>
          <p:cNvSpPr/>
          <p:nvPr/>
        </p:nvSpPr>
        <p:spPr>
          <a:xfrm>
            <a:off x="7296912" y="358444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mgmt_spoke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296912" y="384048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fw_private_ip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vnet_id/name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68112" y="4462272"/>
            <a:ext cx="1536192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68112" y="4462272"/>
            <a:ext cx="1536192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3" name="Text 31"/>
          <p:cNvSpPr/>
          <p:nvPr/>
        </p:nvSpPr>
        <p:spPr>
          <a:xfrm>
            <a:off x="5541264" y="455371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peering (×2)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41264" y="480974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inputs: hub+spoke ids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outputs consumed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223760" y="4462272"/>
            <a:ext cx="1536192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3760" y="4462272"/>
            <a:ext cx="1536192" cy="54864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37" name="Text 35"/>
          <p:cNvSpPr/>
          <p:nvPr/>
        </p:nvSpPr>
        <p:spPr>
          <a:xfrm>
            <a:off x="7296912" y="455371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private_dns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296912" y="480974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inputs: vnet ids (map)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outputs consumed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852160" y="2066544"/>
            <a:ext cx="0" cy="420624"/>
          </a:xfrm>
          <a:prstGeom prst="line">
            <a:avLst/>
          </a:prstGeom>
          <a:noFill/>
          <a:ln w="15240">
            <a:solidFill>
              <a:srgbClr val="F8514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91856" y="2066544"/>
            <a:ext cx="0" cy="420624"/>
          </a:xfrm>
          <a:prstGeom prst="line">
            <a:avLst/>
          </a:prstGeom>
          <a:noFill/>
          <a:ln w="15240">
            <a:solidFill>
              <a:srgbClr val="D2992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52160" y="3200400"/>
            <a:ext cx="0" cy="292608"/>
          </a:xfrm>
          <a:prstGeom prst="line">
            <a:avLst/>
          </a:prstGeom>
          <a:noFill/>
          <a:ln w="15240">
            <a:solidFill>
              <a:srgbClr val="39C5C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36208" y="3200400"/>
            <a:ext cx="13716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91856" y="3200400"/>
            <a:ext cx="0" cy="292608"/>
          </a:xfrm>
          <a:prstGeom prst="line">
            <a:avLst/>
          </a:prstGeom>
          <a:noFill/>
          <a:ln w="15240">
            <a:solidFill>
              <a:srgbClr val="39C5C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52160" y="4206240"/>
            <a:ext cx="0" cy="256032"/>
          </a:xfrm>
          <a:prstGeom prst="line">
            <a:avLst/>
          </a:prstGeom>
          <a:noFill/>
          <a:ln w="12700">
            <a:solidFill>
              <a:srgbClr val="BC8C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91856" y="4206240"/>
            <a:ext cx="0" cy="256032"/>
          </a:xfrm>
          <a:prstGeom prst="line">
            <a:avLst/>
          </a:prstGeom>
          <a:noFill/>
          <a:ln w="12700">
            <a:solidFill>
              <a:srgbClr val="FF7B7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spoke_network Module — for_each &amp; UDR Pattern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7132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modules/spoke_network/main.tf  ·  most reusable module in the repo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Variable: subnets map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2743200" cy="1444752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61872"/>
            <a:ext cx="256032" cy="144475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1307592"/>
            <a:ext cx="2414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"subnets"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map(object({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cidr = string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private_endpoint_network_policies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optional(string, "Enabled")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apply_udr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optional(bool, true)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"subnet name → config"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3200400" y="10241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Resource: azurerm_subnet (for_each)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261872"/>
            <a:ext cx="3017520" cy="1444752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261872"/>
            <a:ext cx="256032" cy="144475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3493008" y="1307592"/>
            <a:ext cx="2688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"azurerm_subnet" "this" {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for_each = var.subnets   # key = subnet name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= "${each.key}-${var.prefix}-${var.environment}-${var.location_short}"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resource_group_name  = azurerm_resource_group.spoke.name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virtual_network_name = azurerm_virtual_network.spoke.name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address_prefixes     = [each.value.cidr]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private_endpoint_network_policies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each.value.private_endpoint_network_policies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6355080" y="10241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Route Table + conditional association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55080" y="1261872"/>
            <a:ext cx="2560320" cy="1444752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261872"/>
            <a:ext cx="256032" cy="144475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6647688" y="1307592"/>
            <a:ext cx="22311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"azurerm_route_table" "spoke" {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bgp_route_propagation_enabled = false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route {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         = "default-to-firewall"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address_prefix = "0.0.0.0/0"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next_hop_type  = "VirtualAppliance"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next_hop_in_ip_address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var.firewall_private_ip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Only attach UDR where apply_udr = true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"azurerm_subnet_route_table_association" "this" {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for_each = {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k, v in var.subnets : k =&gt; v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v.apply_udr           # filter expression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subnet_id      = azurerm_subnet.this[each.key].id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route_table_id = azurerm_route_table.spoke.id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320040" y="28346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Key HCL Patterns Used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416052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154680"/>
            <a:ext cx="45720" cy="804672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095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optional() in object type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14600" y="320954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optional(bool, true)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457200" y="34655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Introduced in Terraform 1.3. Callers may omit the attribute; the module substitutes the default. Prevents callers from having to specify every field — see snet-pep's apply_udr = false.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3154680"/>
            <a:ext cx="416052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154680"/>
            <a:ext cx="45720" cy="804672"/>
          </a:xfrm>
          <a:prstGeom prst="rect">
            <a:avLst/>
          </a:prstGeom>
          <a:solidFill>
            <a:srgbClr val="39C5CF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2095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 on a map → ordered keys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0" y="320954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 = var.subnets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4800600" y="34655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Creates one azurerm_subnet per map entry. The resource address becomes azurerm_subnet.this["snet-web"]. Terraform tracks diffs per-key, so adding a new subnet never destroys existing ones.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4069080"/>
            <a:ext cx="416052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069080"/>
            <a:ext cx="45720" cy="80467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1239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for_each with if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14600" y="412394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k, v in var.subnets : k =&gt; v if v.apply_udr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457200" y="43799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Conditional for expression inside a for_each block. Subnets where apply_udr=false (e.g. snet-pep) are excluded from the association. No separate boolean variable needed.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4069080"/>
            <a:ext cx="416052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4069080"/>
            <a:ext cx="45720" cy="80467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41239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bgp_route_propagation_enabled = false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58000" y="412394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bgp_route_propagation_enabled = false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4800600" y="43799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Prevents on-premises BGP routes from leaking into the route table and bypassing the firewall. Critical for a hub-spoke topology — spoke routes must be explicit, not learned.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firewall Module — Policy, Rule Collections &amp; Outputs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7132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modules/firewall/main.tf  ·  three linked resources + outputs chained downstream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dependency chain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4206240" cy="676656"/>
          </a:xfrm>
          <a:prstGeom prst="rect">
            <a:avLst/>
          </a:prstGeom>
          <a:solidFill>
            <a:srgbClr val="161B22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25880"/>
            <a:ext cx="45720" cy="676656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3716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azurerm_public_ip.firewall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15910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· Standard SKU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pip-afw-{prefix}-{env}-{loc}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841248" y="2002536"/>
            <a:ext cx="0" cy="128016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97510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0363D"/>
                </a:solidFill>
              </a:rPr>
              <a:t>↓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130552"/>
            <a:ext cx="4206240" cy="676656"/>
          </a:xfrm>
          <a:prstGeom prst="rect">
            <a:avLst/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130552"/>
            <a:ext cx="45720" cy="67665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17627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azurerm_firewall_policy.this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8912" y="23957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 = var.sku_tier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 for all rules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841248" y="2807208"/>
            <a:ext cx="0" cy="128016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77977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0363D"/>
                </a:solidFill>
              </a:rPr>
              <a:t>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935224"/>
            <a:ext cx="4206240" cy="676656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935224"/>
            <a:ext cx="45720" cy="67665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298094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azurerm_firewall_policy_rule_collection_group.this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8912" y="32004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 = 100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holds network + app collections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841248" y="3611880"/>
            <a:ext cx="0" cy="128016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5844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0363D"/>
                </a:solidFill>
              </a:rPr>
              <a:t>↓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739896"/>
            <a:ext cx="4206240" cy="676656"/>
          </a:xfrm>
          <a:prstGeom prst="rect">
            <a:avLst/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739896"/>
            <a:ext cx="45720" cy="67665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" y="378561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azurerm_firewall.this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38912" y="40050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sku_name = AZFW_VNet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ip_config refs fw_subnet_id + pip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320040" y="4572000"/>
            <a:ext cx="4206240" cy="384048"/>
          </a:xfrm>
          <a:prstGeom prst="rect">
            <a:avLst/>
          </a:prstGeom>
          <a:solidFill>
            <a:srgbClr val="0D2010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5902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firewall_private_ip  →  used as var.firewall_private_ip in every spoke module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00600" y="10241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Collection Group (HCL)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1298448"/>
            <a:ext cx="4023360" cy="370332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1298448"/>
            <a:ext cx="256032" cy="3703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4" name="Text 32"/>
          <p:cNvSpPr/>
          <p:nvPr/>
        </p:nvSpPr>
        <p:spPr>
          <a:xfrm>
            <a:off x="5093208" y="1344168"/>
            <a:ext cx="3694176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"azurerm_firewall_policy_rule_collection_group" "this"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= "rcg-${var.prefix}-${var.environment}"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firewall_policy_id = azurerm_firewall_policy.this.id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priority           = 100    # lower = evaluated first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network_rule_collection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   = "nrc-allow-outbound-internet"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priority = 100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   = "Allow"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rule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                  = "allow-http-https"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protocols             = ["TCP"]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source_addresses      = ["10.0.0.0/8"]  # all private ranges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destination_addresses = ["*"]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destination_ports     = ["80", "443"]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rule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              = "allow-dns"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protocols         = ["UDP", "TCP"]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source_addresses  = ["10.0.0.0/8"]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destination_addresses = ["*"]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destination_ports = ["53"]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application_rule_collection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   = "arc-allow-azure-services"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priority = 200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   = "Allow"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rule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             = "allow-azure-management"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source_addresses = ["10.0.0.0/8"]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destination_fqdns = [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"*.azure.com",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"*.microsoft.com",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"*.azure.net",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"*.microsoftonline.com",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protocols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type = "Https"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port = 443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4800600" y="5029200"/>
            <a:ext cx="4023360" cy="347472"/>
          </a:xfrm>
          <a:prstGeom prst="rect">
            <a:avLst/>
          </a:prstGeom>
          <a:solidFill>
            <a:srgbClr val="10100A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5047488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 { condition = contains(["Basic","Standard","Premium"], var.sku_tier) }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peering Module — Bidirectional VNet Peering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7132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modules/peering/main.tf  ·  always two resources — one in each direction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 — full module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663440" cy="365760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256032" cy="3657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1344168"/>
            <a:ext cx="433425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"azurerm_virtual_network_peering" "hub_to_spoke" {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 = "peer-hub-to-${var.peering_name_suffix}"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resource_group_name = var.hub_resource_group_name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virtual_network_name = var.hub_vnet_name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remote_virtual_network_id = var.spoke_vnet_id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allow_forwarded_traffic      = true   # allow spoke→hub forwarded pkts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allow_virtual_network_access = true   # required for basic connectivity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allow_gateway_transit        = false  # no VPN GW in hub (yet)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"azurerm_virtual_network_peering" "spoke_to_hub" {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 = "peer-${var.peering_name_suffix}-to-hub"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resource_group_name = var.spoke_resource_group_name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virtual_network_name = var.spoke_vnet_name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remote_virtual_network_id = var.hub_vnet_id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allow_forwarded_traffic      = true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allow_virtual_network_access = true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use_remote_gateways          = false  # no remote GW to use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 sites in environments/dev/main.tf: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"peer_hub_app" {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                 = "../../modules/peering"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peering_name_suffix     = "app"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hub_vnet_id             = module.hub_network.vnet_id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hub_vnet_name           = module.hub_network.vnet_name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hub_resource_group_name = module.hub_network.resource_group_name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spoke_vnet_id           = module.app_spoke.vnet_id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spoke_vnet_name         = module.app_spoke.vnet_name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spoke_resource_group_name = module.app_spoke.resource_group_name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5230368" y="1024128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C8CFF"/>
                </a:solidFill>
              </a:rPr>
              <a:t>Why Two Resources?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30368" y="1316736"/>
            <a:ext cx="3593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Azure VNet peering is not symmetric — each VNet needs its own peering resource in its own resource group. One resource = one direction. Both must exist for full connectivity.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30368" y="2048256"/>
            <a:ext cx="3593592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30368" y="2048256"/>
            <a:ext cx="45720" cy="658368"/>
          </a:xfrm>
          <a:prstGeom prst="rect">
            <a:avLst/>
          </a:prstGeom>
          <a:solidFill>
            <a:srgbClr val="39C5CF"/>
          </a:solidFill>
          <a:ln/>
        </p:spPr>
      </p:sp>
      <p:sp>
        <p:nvSpPr>
          <p:cNvPr id="14" name="Text 12"/>
          <p:cNvSpPr/>
          <p:nvPr/>
        </p:nvSpPr>
        <p:spPr>
          <a:xfrm>
            <a:off x="5349240" y="208483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allow_forwarded_traffic = true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49240" y="228600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Allows traffic not originating from the VNet itself (i.e. traffic from spoke forwarded through hub). Required when using Azure Firewall as a next-hop.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230368" y="2798064"/>
            <a:ext cx="3593592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0368" y="2798064"/>
            <a:ext cx="45720" cy="658368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283464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allow_gateway_transit = false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49240" y="303580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Would be set true if a VPN Gateway were deployed in the hub. False here because no VPN GW exists — setting it would cause a Terraform error.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230368" y="3547872"/>
            <a:ext cx="3593592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30368" y="3547872"/>
            <a:ext cx="45720" cy="658368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358444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use_remote_gateways = false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49240" y="3785616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Only set true on spoke→hub if the hub has a Gateway and allow_gateway_transit=true. Both sides must agree. Mismatching causes apply failures.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230368" y="4297680"/>
            <a:ext cx="3593592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30368" y="4297680"/>
            <a:ext cx="45720" cy="65836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6" name="Text 24"/>
          <p:cNvSpPr/>
          <p:nvPr/>
        </p:nvSpPr>
        <p:spPr>
          <a:xfrm>
            <a:off x="5349240" y="433425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peering_name_suffix = "app"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49240" y="4535424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Used to name the peering resources: peer-hub-to-app and peer-app-to-hub. The suffix must be unique per spoke — changing it forces recreation of the peering.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private_dns Module — flatten() + for_each Pattern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7132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modules/private_dns/main.tf  ·  N zones × M VNets = NM link resources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flatten pattern (N × M resources)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663440" cy="370332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256032" cy="3703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1344168"/>
            <a:ext cx="4334256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 — create one DNS zone per entry in var.dns_zones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"azurerm_private_dns_zone" "this"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for_each            = toset(var.dns_zones)  # set deduplicates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 = each.key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resource_group_name = var.resource_group_name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               = var.tags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 — produce one link per (zone × vnet) pair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vnet_zone_links = flatten([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zone_name in var.dns_zones : [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vnet_label, vnet in var.linked_vnets :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key       = "${replace(zone_name,".","-")}-${vnet_label}"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zone_name = zone_name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vnet_id   = vnet.vnet_id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registration_enabled = vnet.registration_enabled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Example result (2 zones × 3 VNets = 6 objects):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{ key = "privatelink-blob-...-hub", zone = ..., vnet_id = ... 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{ key = "privatelink-blob-...-app", ... }  etc.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"azurerm_private_dns_zone_virtual_network_link" "this"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for_each = { for link in local.vnet_zone_links : link.key =&gt; link }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   = "link-${each.value.vnet_label}"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resource_group_name   = var.resource_group_name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private_dns_zone_name = azurerm_private_dns_zone.this[each.value.zone_name].name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virtual_network_id    = each.value.vnet_id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registration_enabled  = each.value.registration_enabled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212080" y="102412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flatten() visualised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12080" y="1325880"/>
            <a:ext cx="3611880" cy="329184"/>
          </a:xfrm>
          <a:prstGeom prst="rect">
            <a:avLst/>
          </a:prstGeom>
          <a:solidFill>
            <a:srgbClr val="161B22"/>
          </a:solidFill>
          <a:ln w="9525">
            <a:solidFill>
              <a:srgbClr val="FF7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21808" y="13441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zone: privatelink.blob.core.windows.net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5212080" y="1709928"/>
            <a:ext cx="3611880" cy="329184"/>
          </a:xfrm>
          <a:prstGeom prst="rect">
            <a:avLst/>
          </a:prstGeom>
          <a:solidFill>
            <a:srgbClr val="161B22"/>
          </a:solidFill>
          <a:ln w="9525">
            <a:solidFill>
              <a:srgbClr val="FF7B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1808" y="172821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zone: privatelink.vaultcore.azure.net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6217920" y="21488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×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212080" y="2212848"/>
            <a:ext cx="1115568" cy="329184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223113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vnet: hub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446520" y="2212848"/>
            <a:ext cx="1115568" cy="329184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223113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vnet: app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7680960" y="2212848"/>
            <a:ext cx="1115568" cy="329184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99248" y="223113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vnet: mgmt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212080" y="26334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6 link resources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2926080"/>
            <a:ext cx="1755648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5232" y="294436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blob-privatelink-...  →  hub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7040880" y="2926080"/>
            <a:ext cx="1755648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14032" y="294436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blob-privatelink-...  →  app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5212080" y="3255264"/>
            <a:ext cx="1755648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5232" y="327355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blob-privatelink-...  →  mgmt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7040880" y="3255264"/>
            <a:ext cx="1755648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14032" y="327355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vault-privatelink-... →  hub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5212080" y="3584448"/>
            <a:ext cx="1755648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85232" y="360273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vault-privatelink-... →  app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7040880" y="3584448"/>
            <a:ext cx="1755648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14032" y="360273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vault-privatelink-... →  mgmt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212080" y="4114800"/>
            <a:ext cx="361188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12080" y="4114800"/>
            <a:ext cx="45720" cy="749808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7" name="Text 35"/>
          <p:cNvSpPr/>
          <p:nvPr/>
        </p:nvSpPr>
        <p:spPr>
          <a:xfrm>
            <a:off x="5330952" y="4151376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replace(zone_name, ".", "-")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330952" y="4352544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Azure resource names cannot contain dots. The zone key privatelink.blob.core.windows.net becomes privatelink-blob-core-windows-net as the link resource name prefix.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Variables, Validation &amp; Output Patterns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7132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Patterns used consistently across all modules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 Blocks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788920" cy="214884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256032" cy="2148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1344168"/>
            <a:ext cx="2459736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"sku_tier"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   = string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= "Standard"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validation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 = contains(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["Basic","Standard","Premium"],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var.sku_tier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error_message = "sku_tier must be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Basic, Standard, or Premium."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"sku" {           # bastion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validation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 = contains(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["Basic","Standard","Developer","Premium"],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var.sku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3273552" y="10241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optional() &amp; Complex Types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73552" y="1298448"/>
            <a:ext cx="2788920" cy="214884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73552" y="1298448"/>
            <a:ext cx="256032" cy="2148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344168"/>
            <a:ext cx="2459736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spoke_network/variables.tf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"subnets"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map(object({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cidr = string            # required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private_endpoint_network_policies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optional(string, "Enabled")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apply_udr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optional(bool, true) # defaults true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private_dns/variables.tf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"linked_vnets"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map(object({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vnet_id              = string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registration_enabled = bool   # no default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Hub default CIDRs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"vnet_cidr"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   = string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= "10.0.0.0/16"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"firewall_subnet_cidr"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   = string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= "10.0.1.0/26"  # /26 min for AzFW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6217920" y="102412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&amp; Chaining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298448"/>
            <a:ext cx="2606040" cy="214884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298448"/>
            <a:ext cx="256032" cy="2148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6510528" y="1344168"/>
            <a:ext cx="2276856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hub_network/outputs.tf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"firewall_subnet_id" {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azurerm_subnet.firewall.id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"→ firewall module"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"bastion_subnet_id" {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azurerm_subnet.bastion.id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"vnet_id"   { value = ... }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"vnet_name" { value = ... }</a:t>
            </a:r>
            <a:endParaRPr lang="en-US" sz="710" dirty="0"/>
          </a:p>
          <a:p>
            <a:pPr indent="0" marL="0">
              <a:buNone/>
            </a:pP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firewall/outputs.tf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"firewall_private_ip" {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azurerm_firewall.this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.ip_configuration[0]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.private_ip_address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"→ spoke UDR next-hop"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10" dirty="0"/>
          </a:p>
          <a:p>
            <a:pPr indent="0" marL="0">
              <a:buNone/>
            </a:pP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spoke_network/outputs.tf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"subnet_ids" {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{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k, s in azurerm_subnet.this :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k =&gt; s.id   # map of name → id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10" dirty="0"/>
          </a:p>
        </p:txBody>
      </p:sp>
      <p:sp>
        <p:nvSpPr>
          <p:cNvPr id="18" name="Text 16"/>
          <p:cNvSpPr/>
          <p:nvPr/>
        </p:nvSpPr>
        <p:spPr>
          <a:xfrm>
            <a:off x="320040" y="35844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Design Principles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913632"/>
            <a:ext cx="4160520" cy="47548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913632"/>
            <a:ext cx="45720" cy="4754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319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variables have descriptions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41330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</a:rPr>
              <a:t>Every var has a description string. This surfaces in terraform-docs, IDE hover, and plan output — critical for module consumers.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663440" y="3913632"/>
            <a:ext cx="4160520" cy="47548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913632"/>
            <a:ext cx="45720" cy="47548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9319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hard-coded resource IDs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00600" y="41330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</a:rPr>
              <a:t>Resource IDs come from outputs, never from data sources or hard-coded strings. This ensures the dependency graph is accurate.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320040" y="4480560"/>
            <a:ext cx="4160520" cy="47548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480560"/>
            <a:ext cx="45720" cy="475488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4988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Sensitive outputs avoided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7000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</a:rPr>
              <a:t>No sensitive = true on outputs. State is secured via RBAC (Storage Blob Data Contributor) rather than encrypting specific values.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4663440" y="4480560"/>
            <a:ext cx="4160520" cy="47548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4480560"/>
            <a:ext cx="45720" cy="47548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44988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 via pass-through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00600" y="47000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</a:rPr>
              <a:t>var.tags = map(string) on every module. Env main.tf computes once in locals{}, passes everywhere — add a tag in one place.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bootstrap/ — Remote State Provisioning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7132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bootstrap/main.tf  ·  run once before environments/dev  ·  outputs a paste-ready backend block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 — every resource explained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663440" cy="3675888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256032" cy="36758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1344168"/>
            <a:ext cx="4334256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"random_id" "suffix"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byte_length = 4   # produces 8-char hex e.g. "a3f1b2c0"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Storage account names must be globally unique.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 random suffix on the static prefix guarantees that.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"azurerm_resource_group" "tfstate"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= "rg-${var.prefix}-tfstate-${var.environment}-${var.location_short}"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↑  follows CAF naming: rg-hubspoke-tfstate-dev-weu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"azurerm_storage_account" "tfstate"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= "st${var.prefix}tfst${random_id.suffix.hex}"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↑  st + prefix (≤8 chars) + tfst + 8-char hex  → ≤24 chars (SA limit)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account_tier             = "Standard"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account_replication_type = "LRS"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min_tls_version          = "TLS1_2"   # enforce modern TLS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blob_properties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versioning_enabled = true   # recover from bad applies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delete_retention_policy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days = 30                 # soft-delete window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"azurerm_storage_container" "tfstate"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container_access_type = "private"  # no anonymous access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"azurerm_role_assignment" "tfstate_contributor"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scope                = azurerm_storage_account.tfstate.id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role_definition_name = "Storage Blob Data Contributor"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principal_id         = data.azurerm_client_config.current.object_id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↑  grants the running identity write access to state — no SAS keys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230368" y="1024128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outputs.tf — the key output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30368" y="1298448"/>
            <a:ext cx="3593592" cy="1572768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30368" y="1298448"/>
            <a:ext cx="256032" cy="15727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5522976" y="1344168"/>
            <a:ext cx="326440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"backend_config_snippet"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&lt;&lt;-EOT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terraform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backend "azurerm"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resource_group_name  = "${azurerm_resource_group.tfstate.name}"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storage_account_name = "${azurerm_storage_account.tfstate.name}"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container_name       = "tfstate"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key                  = "dev.terraform.tfstate"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use_azuread_auth     = true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EOT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"Paste into environments/dev/backend.tf"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5230368" y="2971800"/>
            <a:ext cx="3593592" cy="42062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30368" y="2971800"/>
            <a:ext cx="45720" cy="42062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299008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FB950"/>
                </a:solidFill>
              </a:rPr>
              <a:t>🔒  No SAS Keys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49240" y="317296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use_azuread_auth=true means Terraform authenticates with the identity running the pipeline — MSI, GitHub OIDC, or az login. No long-lived secrets in CI vars.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30368" y="3474720"/>
            <a:ext cx="3593592" cy="42062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30368" y="3474720"/>
            <a:ext cx="45720" cy="42062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349300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8A6FF"/>
                </a:solidFill>
              </a:rPr>
              <a:t>🕐  Versioning + Soft Delete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49240" y="367588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versioning_enabled=true keeps a history of every state write. delete_retention_policy.days=30 means a mis-applied destroy can be recovered up to 30 days later.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230368" y="3977640"/>
            <a:ext cx="3593592" cy="42062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30368" y="3977640"/>
            <a:ext cx="45720" cy="42062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399592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8CFF"/>
                </a:solidFill>
              </a:rPr>
              <a:t>🎲  random_id for global uniqueness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49240" y="417880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Storage account names must be globally unique across ALL Azure subscriptions. random_id.suffix.hex adds a 4-byte (8-char hex) collision-resistant suffix.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230368" y="4480560"/>
            <a:ext cx="3593592" cy="42062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30368" y="4480560"/>
            <a:ext cx="45720" cy="420624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449884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29922"/>
                </a:solidFill>
              </a:rPr>
              <a:t>🔑  RBAC not account key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49240" y="468172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azurerm_role_assignment grants Storage Blob Data Contributor — the minimum required role for Terraform state ops. The account key never leaves Azure.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 Workflow — End-to-End Commands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7132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Everything an engineer runs from clone to live infrastructure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— Bootstrap (one-time)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850392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801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az-hub-spoke/bootstrap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0" y="128016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enter bootstrap dir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20040" y="1554480"/>
            <a:ext cx="8503920" cy="274320"/>
          </a:xfrm>
          <a:prstGeom prst="rect">
            <a:avLst/>
          </a:prstGeom>
          <a:solidFill>
            <a:srgbClr val="010409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5544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1554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035040" y="15544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download azurerm + random providers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20040" y="1828800"/>
            <a:ext cx="850392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8288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" y="1828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-var subscription_id=$ARM_SUBSCRIPTION_ID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35040" y="182880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review: 1 RG, 1 SA, 1 container, 1 role assignment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20040" y="2103120"/>
            <a:ext cx="8503920" cy="274320"/>
          </a:xfrm>
          <a:prstGeom prst="rect">
            <a:avLst/>
          </a:prstGeom>
          <a:solidFill>
            <a:srgbClr val="010409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1031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" y="2103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-var subscription_id=$ARM_SUBSCRIPTION_ID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35040" y="210312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creates remote state storage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320040" y="2377440"/>
            <a:ext cx="850392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3774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4360" y="2377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output backend_config_snippet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35040" y="237744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copy the azurerm block into environments/dev/backend.tf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320040" y="274320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— Initialise Dev Environment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017520"/>
            <a:ext cx="850392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0175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94360" y="3017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../environments/dev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035040" y="301752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switch to dev env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320040" y="3291840"/>
            <a:ext cx="8503920" cy="274320"/>
          </a:xfrm>
          <a:prstGeom prst="rect">
            <a:avLst/>
          </a:prstGeom>
          <a:solidFill>
            <a:srgbClr val="010409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2918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94360" y="3291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035040" y="329184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migrates local → azurerm backend (prompts to copy state)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320040" y="3566160"/>
            <a:ext cx="850392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5661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94360" y="3566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validate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035040" y="356616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syntax + type check all modules — catches typos before plan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320040" y="393192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 — Plan &amp; Apply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4206240"/>
            <a:ext cx="850392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42062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94360" y="42062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-var subscription_id=$ARM_SUBSCRIPTION_ID -out tfplan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035040" y="420624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produces: +40-50 resources to add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320040" y="4480560"/>
            <a:ext cx="8503920" cy="274320"/>
          </a:xfrm>
          <a:prstGeom prst="rect">
            <a:avLst/>
          </a:prstGeom>
          <a:solidFill>
            <a:srgbClr val="010409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44805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94360" y="44805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show tfplan | less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035040" y="448056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review the plan before applying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4754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94360" y="4754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tfplan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035040" y="47548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~5-8 min; firewall takes the longest (~4 min)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320040" y="512064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 — Day-2 Operations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5394960"/>
            <a:ext cx="850392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5394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94360" y="5394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 # after any .tf change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035040" y="539496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plan before apply in prod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320040" y="5669280"/>
            <a:ext cx="8503920" cy="274320"/>
          </a:xfrm>
          <a:prstGeom prst="rect">
            <a:avLst/>
          </a:prstGeom>
          <a:solidFill>
            <a:srgbClr val="010409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048" y="56692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94360" y="5669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 list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035040" y="56692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inspect resource addresses — useful after import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320040" y="5943600"/>
            <a:ext cx="850392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4048" y="59436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94360" y="5943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destroy  # teardown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035040" y="594360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destroys all; bootstrap state storage survives (different state)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HCL Patterns — Quick Reference Card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4315968" cy="64998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777240"/>
            <a:ext cx="36576" cy="649986"/>
          </a:xfrm>
          <a:prstGeom prst="rect">
            <a:avLst/>
          </a:prstGeom>
          <a:solidFill>
            <a:srgbClr val="39C5C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13816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 = var.subnets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274320" y="978408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module: spoke_network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274320" y="1106424"/>
            <a:ext cx="4178808" cy="28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</a:rPr>
              <a:t>One resource per map key. Address = resource.type["key"]. Safe to add/remove entries without destroying others.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315968" cy="64998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777240"/>
            <a:ext cx="36576" cy="64998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813816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optional(type, default)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4754880" y="978408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module: spoke_network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4754880" y="1106424"/>
            <a:ext cx="4178808" cy="28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</a:rPr>
              <a:t>Terraform 1.3+. Callers may omit the attribute. Used for apply_udr and private_endpoint_network_policies.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182880" y="1482090"/>
            <a:ext cx="4315968" cy="64998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1482090"/>
            <a:ext cx="36576" cy="64998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1518666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k,v in X : k=&gt;v if v.apply_udr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274320" y="1683258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module: spoke_network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274320" y="1811274"/>
            <a:ext cx="4178808" cy="28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</a:rPr>
              <a:t>Conditional for_each — only creates route table association for subnets flagged apply_udr=true.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663440" y="1482090"/>
            <a:ext cx="4315968" cy="64998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482090"/>
            <a:ext cx="36576" cy="64998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518666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flatten([for … : [for … : {…}]])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4754880" y="1683258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module: private_dns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4754880" y="1811274"/>
            <a:ext cx="4178808" cy="28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</a:rPr>
              <a:t>Converts N×M nested loops into a flat list of objects. Then for_each turns it into keyed map of resources.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182880" y="2186940"/>
            <a:ext cx="4315968" cy="64998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2186940"/>
            <a:ext cx="36576" cy="649986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223516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toset(var.dns_zones)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274320" y="2388108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module: private_dns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274320" y="2516124"/>
            <a:ext cx="4178808" cy="28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</a:rPr>
              <a:t>Converts list → set for for_each. Sets deduplicate and sort — guarantees stable resource addresses.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4663440" y="2186940"/>
            <a:ext cx="4315968" cy="64998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186940"/>
            <a:ext cx="36576" cy="64998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2223516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replace(str, ".", "-")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4754880" y="2388108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module: private_dns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4754880" y="2516124"/>
            <a:ext cx="4178808" cy="28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</a:rPr>
              <a:t>Transforms DNS zone names to valid Azure resource name segments (no dots allowed in resource names).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182880" y="2891790"/>
            <a:ext cx="4315968" cy="64998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" y="2891790"/>
            <a:ext cx="36576" cy="64998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2928366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"azurerm_client_config"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274320" y="3092958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module: bootstrap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274320" y="3220974"/>
            <a:ext cx="4178808" cy="28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</a:rPr>
              <a:t>Reads current auth context. Used to get principal_id for the role assignment without hard-coding a SP GUID.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4663440" y="2891790"/>
            <a:ext cx="4315968" cy="64998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2891790"/>
            <a:ext cx="36576" cy="64998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2928366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&lt;&lt;-EOT … EOT (heredoc)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4754880" y="3092958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module: bootstrap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4754880" y="3220974"/>
            <a:ext cx="4178808" cy="28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</a:rPr>
              <a:t>Multi-line string output for backend_config_snippet. &lt;&lt;- trims leading whitespace. Used for paste-ready output.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182880" y="3596640"/>
            <a:ext cx="4315968" cy="64998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2880" y="3596640"/>
            <a:ext cx="36576" cy="649986"/>
          </a:xfrm>
          <a:prstGeom prst="rect">
            <a:avLst/>
          </a:prstGeom>
          <a:solidFill>
            <a:srgbClr val="39C5CF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3633216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module.X.output_name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274320" y="3797808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module: environments/dev</a:t>
            </a:r>
            <a:endParaRPr lang="en-US" sz="680" dirty="0"/>
          </a:p>
        </p:txBody>
      </p:sp>
      <p:sp>
        <p:nvSpPr>
          <p:cNvPr id="49" name="Text 47"/>
          <p:cNvSpPr/>
          <p:nvPr/>
        </p:nvSpPr>
        <p:spPr>
          <a:xfrm>
            <a:off x="274320" y="3925824"/>
            <a:ext cx="4178808" cy="28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</a:rPr>
              <a:t>Module output reference. Creates implicit dependency — Terraform plans hub_network before firewall automatically.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4663440" y="3596640"/>
            <a:ext cx="4315968" cy="64998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0" y="3596640"/>
            <a:ext cx="36576" cy="64998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0" y="3633216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{ … }[var.location]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4754880" y="3797808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module: environments/dev</a:t>
            </a:r>
            <a:endParaRPr lang="en-US" sz="680" dirty="0"/>
          </a:p>
        </p:txBody>
      </p:sp>
      <p:sp>
        <p:nvSpPr>
          <p:cNvPr id="54" name="Text 52"/>
          <p:cNvSpPr/>
          <p:nvPr/>
        </p:nvSpPr>
        <p:spPr>
          <a:xfrm>
            <a:off x="4754880" y="3925824"/>
            <a:ext cx="4178808" cy="28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</a:rPr>
              <a:t>Map lookup on a local. Maps the full region string to a short code. Fails fast if var.location is not in the map.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182880" y="4301490"/>
            <a:ext cx="4315968" cy="64998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2880" y="4301490"/>
            <a:ext cx="36576" cy="649986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57" name="Text 55"/>
          <p:cNvSpPr/>
          <p:nvPr/>
        </p:nvSpPr>
        <p:spPr>
          <a:xfrm>
            <a:off x="274320" y="4338066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 { condition = … }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274320" y="4502658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module: firewall/bastion</a:t>
            </a:r>
            <a:endParaRPr lang="en-US" sz="680" dirty="0"/>
          </a:p>
        </p:txBody>
      </p:sp>
      <p:sp>
        <p:nvSpPr>
          <p:cNvPr id="59" name="Text 57"/>
          <p:cNvSpPr/>
          <p:nvPr/>
        </p:nvSpPr>
        <p:spPr>
          <a:xfrm>
            <a:off x="274320" y="4630674"/>
            <a:ext cx="4178808" cy="28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</a:rPr>
              <a:t>Input validation block. Rejects invalid values at plan time with a user-friendly error_message.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4663440" y="4301490"/>
            <a:ext cx="4315968" cy="64998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63440" y="4301490"/>
            <a:ext cx="36576" cy="64998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62" name="Text 60"/>
          <p:cNvSpPr/>
          <p:nvPr/>
        </p:nvSpPr>
        <p:spPr>
          <a:xfrm>
            <a:off x="4754880" y="4338066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ip_configuration[0].private_ip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4754880" y="4502658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module: firewall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4754880" y="4630674"/>
            <a:ext cx="4178808" cy="28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9D1D9"/>
                </a:solidFill>
              </a:rPr>
              <a:t>Accesses first element of a list attribute. Firewall only has one IP config; [0] is safe and required for the output.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Implementation — Technical Deep-Dive</dc:title>
  <dc:subject>PptxGenJS Presentation</dc:subject>
  <dc:creator>PptxGenJS</dc:creator>
  <cp:lastModifiedBy>PptxGenJS</cp:lastModifiedBy>
  <cp:revision>1</cp:revision>
  <dcterms:created xsi:type="dcterms:W3CDTF">2026-04-27T07:51:56Z</dcterms:created>
  <dcterms:modified xsi:type="dcterms:W3CDTF">2026-04-27T07:51:56Z</dcterms:modified>
</cp:coreProperties>
</file>